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72" r:id="rId5"/>
    <p:sldId id="262" r:id="rId6"/>
    <p:sldId id="273" r:id="rId7"/>
    <p:sldId id="266" r:id="rId8"/>
    <p:sldId id="260" r:id="rId9"/>
    <p:sldId id="274" r:id="rId10"/>
  </p:sldIdLst>
  <p:sldSz cx="12192000" cy="6858000"/>
  <p:notesSz cx="6858000" cy="9144000"/>
  <p:embeddedFontLst>
    <p:embeddedFont>
      <p:font typeface="Outfit" panose="020B0604020202020204" charset="0"/>
      <p:regular r:id="rId12"/>
      <p:bold r:id="rId13"/>
    </p:embeddedFont>
    <p:embeddedFont>
      <p:font typeface="Outfit ExtraBold" panose="020B0604020202020204" charset="0"/>
      <p:bold r:id="rId14"/>
    </p:embeddedFont>
    <p:embeddedFont>
      <p:font typeface="Plus Jakarta Sans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3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CEEC0A-D6CF-4CEE-903C-712A7995AF3F}">
  <a:tblStyle styleId="{ADCEEC0A-D6CF-4CEE-903C-712A7995AF3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75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F896F7A1-8B1F-E548-5CCE-CA8298B80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D99795E7-27F3-5914-F437-F2AB410909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240453A8-C4F6-38B3-D527-0C0BE4E47B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9180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8B801F4-364C-189A-EEF7-3845ECFEA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C4A594A5-B6D9-C003-FF0E-4DE999A6F6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DFC0CD59-E1ED-BC1D-9986-7C0E51F75D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5741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F9FCB70C-7864-BE0C-66E5-3BACA5E40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976F0F09-03C3-3FEC-7411-D5AE7951B2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7C65E227-24E0-2D70-FA60-E91102095B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2785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07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95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407568" y="3326010"/>
            <a:ext cx="537686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650" b="0" i="0" u="none" strike="noStrike" cap="none" noProof="0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Horeca App</a:t>
            </a:r>
            <a:endParaRPr lang="nl-BE" noProof="0" dirty="0"/>
          </a:p>
        </p:txBody>
      </p:sp>
      <p:pic>
        <p:nvPicPr>
          <p:cNvPr id="2" name="Picture 1" descr="https://startspeler.com/media/logo/default/logoweb.png">
            <a:extLst>
              <a:ext uri="{FF2B5EF4-FFF2-40B4-BE49-F238E27FC236}">
                <a16:creationId xmlns:a16="http://schemas.microsoft.com/office/drawing/2014/main" id="{E113310E-630F-D0BD-628F-87FDF30CE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591" y="2621138"/>
            <a:ext cx="3472818" cy="5139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078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657475"/>
            <a:ext cx="952500" cy="47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nl-BE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693199" y="2705100"/>
            <a:ext cx="48056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4200" b="0" i="0" u="none" strike="noStrike" cap="none" noProof="0" dirty="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Wie zijn wij?</a:t>
            </a:r>
            <a:endParaRPr lang="nl-BE" noProof="0"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6095999" y="3675325"/>
            <a:ext cx="2967990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60000"/>
              </a:lnSpc>
            </a:pPr>
            <a:r>
              <a:rPr lang="nl-BE" sz="2000" b="1" noProof="0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Lander </a:t>
            </a:r>
            <a:r>
              <a:rPr lang="nl-BE" sz="2000" b="1" noProof="0" dirty="0" err="1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Vennekens</a:t>
            </a:r>
            <a:endParaRPr lang="nl-BE" sz="2000" b="1" noProof="0" dirty="0">
              <a:solidFill>
                <a:srgbClr val="CBD5E1"/>
              </a:solidFill>
              <a:latin typeface="Plus Jakarta Sans"/>
              <a:cs typeface="Plus Jakarta Sans"/>
              <a:sym typeface="Plus Jakarta Sans"/>
            </a:endParaRPr>
          </a:p>
          <a:p>
            <a:pPr lvl="0" algn="r">
              <a:lnSpc>
                <a:spcPct val="160000"/>
              </a:lnSpc>
            </a:pPr>
            <a:r>
              <a:rPr lang="nl-BE" sz="1600" noProof="0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Dessel</a:t>
            </a:r>
          </a:p>
          <a:p>
            <a:pPr lvl="0" algn="r">
              <a:lnSpc>
                <a:spcPct val="160000"/>
              </a:lnSpc>
            </a:pPr>
            <a:r>
              <a:rPr lang="nl-BE" sz="1600" noProof="0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27 jaar</a:t>
            </a:r>
          </a:p>
          <a:p>
            <a:pPr lvl="0" algn="r">
              <a:lnSpc>
                <a:spcPct val="160000"/>
              </a:lnSpc>
            </a:pPr>
            <a:r>
              <a:rPr lang="nl-BE" sz="1600" noProof="0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SCK CEN</a:t>
            </a:r>
          </a:p>
          <a:p>
            <a:pPr lvl="0" algn="r">
              <a:lnSpc>
                <a:spcPct val="160000"/>
              </a:lnSpc>
            </a:pPr>
            <a:endParaRPr lang="nl-BE" sz="1600" noProof="0" dirty="0"/>
          </a:p>
        </p:txBody>
      </p:sp>
      <p:sp>
        <p:nvSpPr>
          <p:cNvPr id="2" name="Google Shape;95;p14">
            <a:extLst>
              <a:ext uri="{FF2B5EF4-FFF2-40B4-BE49-F238E27FC236}">
                <a16:creationId xmlns:a16="http://schemas.microsoft.com/office/drawing/2014/main" id="{F159789C-3E87-709B-BECE-F2E9A1790DB7}"/>
              </a:ext>
            </a:extLst>
          </p:cNvPr>
          <p:cNvSpPr txBox="1"/>
          <p:nvPr/>
        </p:nvSpPr>
        <p:spPr>
          <a:xfrm>
            <a:off x="3128009" y="3675325"/>
            <a:ext cx="2967990" cy="1674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nl-BE" sz="2000" b="1" noProof="0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David Aeschlimann</a:t>
            </a:r>
          </a:p>
          <a:p>
            <a:pPr lvl="0">
              <a:lnSpc>
                <a:spcPct val="160000"/>
              </a:lnSpc>
            </a:pPr>
            <a:r>
              <a:rPr lang="nl-BE" sz="1600" noProof="0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Westerlo</a:t>
            </a:r>
          </a:p>
          <a:p>
            <a:pPr lvl="0">
              <a:lnSpc>
                <a:spcPct val="160000"/>
              </a:lnSpc>
            </a:pPr>
            <a:r>
              <a:rPr lang="nl-BE" sz="1600" noProof="0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27 jaar</a:t>
            </a:r>
          </a:p>
          <a:p>
            <a:pPr lvl="0">
              <a:lnSpc>
                <a:spcPct val="160000"/>
              </a:lnSpc>
            </a:pPr>
            <a:r>
              <a:rPr lang="nl-BE" sz="1600" noProof="0" dirty="0" err="1">
                <a:solidFill>
                  <a:srgbClr val="CBD5E1"/>
                </a:solidFill>
                <a:latin typeface="Plus Jakarta Sans"/>
                <a:cs typeface="Plus Jakarta Sans"/>
              </a:rPr>
              <a:t>Digi</a:t>
            </a:r>
            <a:r>
              <a:rPr lang="nl-BE" sz="1600" noProof="0" dirty="0">
                <a:solidFill>
                  <a:srgbClr val="CBD5E1"/>
                </a:solidFill>
                <a:latin typeface="Plus Jakarta Sans"/>
                <a:cs typeface="Plus Jakarta Sans"/>
              </a:rPr>
              <a:t>-flow/</a:t>
            </a:r>
            <a:r>
              <a:rPr lang="nl-BE" sz="1600" noProof="0" dirty="0" err="1">
                <a:solidFill>
                  <a:srgbClr val="CBD5E1"/>
                </a:solidFill>
                <a:latin typeface="Plus Jakarta Sans"/>
                <a:cs typeface="Plus Jakarta Sans"/>
              </a:rPr>
              <a:t>Waterleau</a:t>
            </a:r>
            <a:endParaRPr lang="nl-BE" sz="1600" noProof="0" dirty="0">
              <a:solidFill>
                <a:srgbClr val="CBD5E1"/>
              </a:solidFill>
              <a:latin typeface="Plus Jakarta Sans"/>
              <a:cs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444204"/>
            <a:ext cx="3403550" cy="2737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4150" y="2444204"/>
            <a:ext cx="3403550" cy="2737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6300" y="2444204"/>
            <a:ext cx="3403550" cy="273724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1057275" y="3463379"/>
            <a:ext cx="2953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1. </a:t>
            </a:r>
            <a:r>
              <a:rPr lang="nl-BE" sz="1800" b="1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Handmatige opname</a:t>
            </a:r>
            <a:endParaRPr lang="nl-BE" noProof="0" dirty="0"/>
          </a:p>
        </p:txBody>
      </p:sp>
      <p:sp>
        <p:nvSpPr>
          <p:cNvPr id="104" name="Google Shape;104;p15"/>
          <p:cNvSpPr txBox="1"/>
          <p:nvPr/>
        </p:nvSpPr>
        <p:spPr>
          <a:xfrm>
            <a:off x="1057275" y="3863429"/>
            <a:ext cx="28130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nl-BE" sz="12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Drankopname door de barmedewerker is per klant, dit wordt op papier genoteerd.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noProof="0"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4689425" y="3463379"/>
            <a:ext cx="2953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2. </a:t>
            </a:r>
            <a:r>
              <a:rPr lang="nl-BE" sz="1800" b="1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Individueel invoeren</a:t>
            </a:r>
            <a:endParaRPr lang="nl-BE" noProof="0"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4689425" y="3863429"/>
            <a:ext cx="281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60000"/>
              </a:lnSpc>
              <a:buFont typeface="Arial"/>
              <a:buChar char="•"/>
            </a:pPr>
            <a:r>
              <a:rPr lang="nl-BE" sz="12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Klant selecteren in kassasysteem </a:t>
            </a:r>
          </a:p>
          <a:p>
            <a:pPr marL="285750" lvl="0" indent="-285750">
              <a:lnSpc>
                <a:spcPct val="160000"/>
              </a:lnSpc>
              <a:buFont typeface="Arial"/>
              <a:buChar char="•"/>
            </a:pPr>
            <a:r>
              <a:rPr lang="nl-BE" sz="12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Drankje toevoegen </a:t>
            </a:r>
          </a:p>
          <a:p>
            <a:pPr marL="285750" lvl="0" indent="-285750">
              <a:lnSpc>
                <a:spcPct val="160000"/>
              </a:lnSpc>
              <a:buFont typeface="Arial"/>
              <a:buChar char="•"/>
            </a:pPr>
            <a:r>
              <a:rPr lang="nl-BE" sz="12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Klant terug in wacht zetten</a:t>
            </a:r>
          </a:p>
        </p:txBody>
      </p:sp>
      <p:sp>
        <p:nvSpPr>
          <p:cNvPr id="107" name="Google Shape;107;p15"/>
          <p:cNvSpPr txBox="1"/>
          <p:nvPr/>
        </p:nvSpPr>
        <p:spPr>
          <a:xfrm>
            <a:off x="8321575" y="3463379"/>
            <a:ext cx="2953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3. </a:t>
            </a:r>
            <a:r>
              <a:rPr lang="nl-BE" sz="1800" b="1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Individuele afrekening</a:t>
            </a:r>
            <a:endParaRPr lang="nl-BE" noProof="0"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8321575" y="3863429"/>
            <a:ext cx="281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nl-BE" sz="12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Elke klant rekent apart af, er worden dus geen rekeningen gemaakt per tafel, maar per klant.</a:t>
            </a:r>
          </a:p>
        </p:txBody>
      </p:sp>
      <p:sp>
        <p:nvSpPr>
          <p:cNvPr id="112" name="Google Shape;112;p15"/>
          <p:cNvSpPr txBox="1"/>
          <p:nvPr/>
        </p:nvSpPr>
        <p:spPr>
          <a:xfrm>
            <a:off x="762000" y="571500"/>
            <a:ext cx="11201400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850" noProof="0" dirty="0">
                <a:solidFill>
                  <a:srgbClr val="2B3078"/>
                </a:solidFill>
                <a:latin typeface="Outfit ExtraBold"/>
                <a:sym typeface="Outfit ExtraBold"/>
              </a:rPr>
              <a:t>Huidige workflow</a:t>
            </a:r>
            <a:endParaRPr lang="nl-BE" noProof="0" dirty="0"/>
          </a:p>
        </p:txBody>
      </p:sp>
      <p:pic>
        <p:nvPicPr>
          <p:cNvPr id="4" name="Picture 3" descr="edit 2 icon">
            <a:extLst>
              <a:ext uri="{FF2B5EF4-FFF2-40B4-BE49-F238E27FC236}">
                <a16:creationId xmlns:a16="http://schemas.microsoft.com/office/drawing/2014/main" id="{9F89EA5E-18A7-C57D-B8CD-2298D58CD2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716442"/>
            <a:ext cx="473784" cy="473784"/>
          </a:xfrm>
          <a:prstGeom prst="rect">
            <a:avLst/>
          </a:prstGeom>
        </p:spPr>
      </p:pic>
      <p:pic>
        <p:nvPicPr>
          <p:cNvPr id="5" name="Picture 4" descr="computer icon">
            <a:extLst>
              <a:ext uri="{FF2B5EF4-FFF2-40B4-BE49-F238E27FC236}">
                <a16:creationId xmlns:a16="http://schemas.microsoft.com/office/drawing/2014/main" id="{86CC1E9F-F124-B483-CE0D-D4D73A9390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9425" y="2716442"/>
            <a:ext cx="473785" cy="473785"/>
          </a:xfrm>
          <a:prstGeom prst="rect">
            <a:avLst/>
          </a:prstGeom>
        </p:spPr>
      </p:pic>
      <p:pic>
        <p:nvPicPr>
          <p:cNvPr id="6" name="Picture 5" descr="wallet icon">
            <a:extLst>
              <a:ext uri="{FF2B5EF4-FFF2-40B4-BE49-F238E27FC236}">
                <a16:creationId xmlns:a16="http://schemas.microsoft.com/office/drawing/2014/main" id="{A50CC599-D37B-4D33-DA9F-DE1F96649B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575" y="2716442"/>
            <a:ext cx="473784" cy="473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53ADB251-9C03-FA24-0CEE-B03F72CB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>
            <a:extLst>
              <a:ext uri="{FF2B5EF4-FFF2-40B4-BE49-F238E27FC236}">
                <a16:creationId xmlns:a16="http://schemas.microsoft.com/office/drawing/2014/main" id="{2AABC058-D026-36FF-5A0A-A0250696DC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447137"/>
            <a:ext cx="3403550" cy="471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>
            <a:extLst>
              <a:ext uri="{FF2B5EF4-FFF2-40B4-BE49-F238E27FC236}">
                <a16:creationId xmlns:a16="http://schemas.microsoft.com/office/drawing/2014/main" id="{CC208942-39E1-DA60-DA6A-AA8F066A153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4150" y="1447137"/>
            <a:ext cx="3403550" cy="471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>
            <a:extLst>
              <a:ext uri="{FF2B5EF4-FFF2-40B4-BE49-F238E27FC236}">
                <a16:creationId xmlns:a16="http://schemas.microsoft.com/office/drawing/2014/main" id="{F7A54322-38A6-AA13-2A42-456C15F94A0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6300" y="1447137"/>
            <a:ext cx="3403550" cy="47151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F9971635-2A1C-85EC-B903-7AD170C7D085}"/>
              </a:ext>
            </a:extLst>
          </p:cNvPr>
          <p:cNvSpPr txBox="1"/>
          <p:nvPr/>
        </p:nvSpPr>
        <p:spPr>
          <a:xfrm>
            <a:off x="1057275" y="2429440"/>
            <a:ext cx="2953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1. Bestellen in de zaal</a:t>
            </a:r>
            <a:endParaRPr lang="nl-BE" noProof="0" dirty="0"/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B7459ADB-424F-2F58-5E8C-DEC9F3B8D6C9}"/>
              </a:ext>
            </a:extLst>
          </p:cNvPr>
          <p:cNvSpPr txBox="1"/>
          <p:nvPr/>
        </p:nvSpPr>
        <p:spPr>
          <a:xfrm>
            <a:off x="1057275" y="2889504"/>
            <a:ext cx="28130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900" b="1" noProof="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Personeel met tablet</a:t>
            </a:r>
          </a:p>
          <a:p>
            <a:pPr>
              <a:lnSpc>
                <a:spcPct val="160000"/>
              </a:lnSpc>
            </a:pPr>
            <a:r>
              <a:rPr lang="nl-BE" sz="9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Barmedewerkers lopen rond en voeren bestellingen direct digitaal in.</a:t>
            </a:r>
            <a:endParaRPr lang="nl-BE" sz="900" noProof="0" dirty="0">
              <a:solidFill>
                <a:srgbClr val="475569"/>
              </a:solidFill>
              <a:latin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900" b="1" noProof="0" dirty="0">
              <a:solidFill>
                <a:srgbClr val="475569"/>
              </a:solidFill>
              <a:latin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900" b="1" noProof="0" dirty="0">
              <a:solidFill>
                <a:srgbClr val="475569"/>
              </a:solidFill>
              <a:latin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900" b="1" noProof="0" dirty="0" err="1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Self-service</a:t>
            </a:r>
            <a:r>
              <a:rPr lang="nl-BE" sz="900" b="1" noProof="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 via QR</a:t>
            </a:r>
          </a:p>
          <a:p>
            <a:pPr lvl="0">
              <a:lnSpc>
                <a:spcPct val="160000"/>
              </a:lnSpc>
            </a:pPr>
            <a:r>
              <a:rPr lang="nl-BE" sz="9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Klanten kunnen ook zelf bestellen via een QR-code aan tafel.</a:t>
            </a:r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F59CD423-4FEA-0021-4532-DD9B26169797}"/>
              </a:ext>
            </a:extLst>
          </p:cNvPr>
          <p:cNvSpPr txBox="1"/>
          <p:nvPr/>
        </p:nvSpPr>
        <p:spPr>
          <a:xfrm>
            <a:off x="4689425" y="2429440"/>
            <a:ext cx="2953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2. </a:t>
            </a:r>
            <a:r>
              <a:rPr lang="nl-BE" sz="1800" b="1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Verwerking aan de bar</a:t>
            </a:r>
            <a:endParaRPr lang="nl-BE" noProof="0" dirty="0"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C5C4FC64-2C3A-D44E-38B2-5745715E8F32}"/>
              </a:ext>
            </a:extLst>
          </p:cNvPr>
          <p:cNvSpPr txBox="1"/>
          <p:nvPr/>
        </p:nvSpPr>
        <p:spPr>
          <a:xfrm>
            <a:off x="8321575" y="2429440"/>
            <a:ext cx="2953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3. </a:t>
            </a:r>
            <a:r>
              <a:rPr lang="nl-BE" sz="1800" b="1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Afrekenen aan de kassa</a:t>
            </a:r>
            <a:endParaRPr lang="nl-BE" noProof="0" dirty="0"/>
          </a:p>
        </p:txBody>
      </p:sp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AB78FF74-2DEB-803D-9BCE-E31DF957E6C0}"/>
              </a:ext>
            </a:extLst>
          </p:cNvPr>
          <p:cNvSpPr txBox="1"/>
          <p:nvPr/>
        </p:nvSpPr>
        <p:spPr>
          <a:xfrm>
            <a:off x="762000" y="571500"/>
            <a:ext cx="11201400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850" noProof="0" dirty="0">
                <a:solidFill>
                  <a:srgbClr val="2B3078"/>
                </a:solidFill>
                <a:latin typeface="Outfit ExtraBold"/>
                <a:sym typeface="Outfit ExtraBold"/>
              </a:rPr>
              <a:t>Gewenste workflow</a:t>
            </a:r>
            <a:endParaRPr lang="nl-BE" noProof="0" dirty="0"/>
          </a:p>
        </p:txBody>
      </p:sp>
      <p:sp>
        <p:nvSpPr>
          <p:cNvPr id="4" name="Google Shape;104;p15">
            <a:extLst>
              <a:ext uri="{FF2B5EF4-FFF2-40B4-BE49-F238E27FC236}">
                <a16:creationId xmlns:a16="http://schemas.microsoft.com/office/drawing/2014/main" id="{D13E51A2-8034-CA3B-DB76-0BF0DD93A72B}"/>
              </a:ext>
            </a:extLst>
          </p:cNvPr>
          <p:cNvSpPr txBox="1"/>
          <p:nvPr/>
        </p:nvSpPr>
        <p:spPr>
          <a:xfrm>
            <a:off x="4830075" y="2892685"/>
            <a:ext cx="281300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900" b="1" noProof="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Directe synchronisatie</a:t>
            </a:r>
          </a:p>
          <a:p>
            <a:pPr>
              <a:lnSpc>
                <a:spcPct val="160000"/>
              </a:lnSpc>
            </a:pPr>
            <a:r>
              <a:rPr lang="nl-BE" sz="9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Barmedewerkers lopen rond en voeren bestellingen direct digitaal in.</a:t>
            </a:r>
            <a:endParaRPr lang="nl-BE" sz="900" noProof="0" dirty="0">
              <a:solidFill>
                <a:srgbClr val="475569"/>
              </a:solidFill>
              <a:latin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900" b="1" noProof="0" dirty="0">
              <a:solidFill>
                <a:srgbClr val="475569"/>
              </a:solidFill>
              <a:latin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900" b="1" noProof="0" dirty="0">
              <a:solidFill>
                <a:srgbClr val="475569"/>
              </a:solidFill>
              <a:latin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900" b="1" noProof="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Volledige controle</a:t>
            </a:r>
          </a:p>
          <a:p>
            <a:pPr lvl="0">
              <a:lnSpc>
                <a:spcPct val="160000"/>
              </a:lnSpc>
            </a:pPr>
            <a:r>
              <a:rPr lang="nl-BE" sz="9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Duidelijke weergave van tafelnummer, klantnaam en bestelling</a:t>
            </a:r>
            <a:br>
              <a:rPr lang="nl-BE" sz="900" noProof="0" dirty="0">
                <a:solidFill>
                  <a:srgbClr val="475569"/>
                </a:solidFill>
                <a:latin typeface="Plus Jakarta Sans"/>
                <a:cs typeface="Plus Jakarta Sans"/>
              </a:rPr>
            </a:br>
            <a:r>
              <a:rPr lang="nl-BE" sz="9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De status is aanpasbaar via </a:t>
            </a:r>
            <a:r>
              <a:rPr lang="nl-BE" sz="900" noProof="0">
                <a:solidFill>
                  <a:srgbClr val="475569"/>
                </a:solidFill>
                <a:latin typeface="Plus Jakarta Sans"/>
                <a:cs typeface="Plus Jakarta Sans"/>
              </a:rPr>
              <a:t>logische werkwijze.</a:t>
            </a:r>
            <a:endParaRPr lang="nl-BE" sz="900" noProof="0" dirty="0">
              <a:solidFill>
                <a:srgbClr val="475569"/>
              </a:solidFill>
              <a:latin typeface="Plus Jakarta Sans"/>
              <a:cs typeface="Plus Jakarta Sans"/>
            </a:endParaRPr>
          </a:p>
        </p:txBody>
      </p:sp>
      <p:sp>
        <p:nvSpPr>
          <p:cNvPr id="5" name="Google Shape;104;p15">
            <a:extLst>
              <a:ext uri="{FF2B5EF4-FFF2-40B4-BE49-F238E27FC236}">
                <a16:creationId xmlns:a16="http://schemas.microsoft.com/office/drawing/2014/main" id="{6595774D-AA13-40FA-A91D-070C4C7A7158}"/>
              </a:ext>
            </a:extLst>
          </p:cNvPr>
          <p:cNvSpPr txBox="1"/>
          <p:nvPr/>
        </p:nvSpPr>
        <p:spPr>
          <a:xfrm>
            <a:off x="8462225" y="2889504"/>
            <a:ext cx="2813000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900" b="1" noProof="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Zoeken op naam</a:t>
            </a:r>
          </a:p>
          <a:p>
            <a:pPr>
              <a:lnSpc>
                <a:spcPct val="160000"/>
              </a:lnSpc>
            </a:pPr>
            <a:r>
              <a:rPr lang="nl-BE" sz="9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Aan het einde van de avond komt de klant naar de kassa en hoeft alleen zijn/haar naam te zeggen.</a:t>
            </a:r>
            <a:endParaRPr lang="nl-BE" sz="900" noProof="0" dirty="0">
              <a:solidFill>
                <a:srgbClr val="475569"/>
              </a:solidFill>
              <a:latin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900" b="1" noProof="0" dirty="0">
              <a:solidFill>
                <a:srgbClr val="475569"/>
              </a:solidFill>
              <a:latin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900" b="1" noProof="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Centraal overzicht</a:t>
            </a:r>
          </a:p>
          <a:p>
            <a:pPr lvl="0">
              <a:lnSpc>
                <a:spcPct val="160000"/>
              </a:lnSpc>
            </a:pPr>
            <a:r>
              <a:rPr lang="nl-BE" sz="9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De kassa toont direct een duidelijk totaaloverzicht van alle consumpties.</a:t>
            </a:r>
          </a:p>
          <a:p>
            <a:pPr lvl="0">
              <a:lnSpc>
                <a:spcPct val="160000"/>
              </a:lnSpc>
            </a:pPr>
            <a:endParaRPr lang="nl-BE" sz="900" noProof="0" dirty="0">
              <a:solidFill>
                <a:srgbClr val="475569"/>
              </a:solidFill>
              <a:latin typeface="Plus Jakarta Sans"/>
              <a:cs typeface="Plus Jakarta Sans"/>
            </a:endParaRPr>
          </a:p>
          <a:p>
            <a:pPr lvl="0">
              <a:lnSpc>
                <a:spcPct val="160000"/>
              </a:lnSpc>
            </a:pPr>
            <a:r>
              <a:rPr lang="nl-BE" sz="900" b="1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Koppeling &amp; Historie</a:t>
            </a:r>
          </a:p>
          <a:p>
            <a:pPr lvl="0">
              <a:lnSpc>
                <a:spcPct val="160000"/>
              </a:lnSpc>
            </a:pPr>
            <a:r>
              <a:rPr lang="nl-BE" sz="9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Na betaling (via het huidige kassasysteem) verspringt de status naar Betaald en wordt de data opgeslagen in de bestelgeschiedenis van de klant</a:t>
            </a:r>
            <a:r>
              <a:rPr lang="nl-BE" sz="900" noProof="0" dirty="0"/>
              <a:t>.</a:t>
            </a:r>
            <a:endParaRPr lang="nl-BE" sz="900" noProof="0" dirty="0">
              <a:solidFill>
                <a:srgbClr val="475569"/>
              </a:solidFill>
              <a:latin typeface="Plus Jakarta Sans"/>
              <a:cs typeface="Plus Jakarta Sans"/>
            </a:endParaRPr>
          </a:p>
        </p:txBody>
      </p:sp>
      <p:pic>
        <p:nvPicPr>
          <p:cNvPr id="6" name="Picture 5" descr="tablet 2 icon">
            <a:extLst>
              <a:ext uri="{FF2B5EF4-FFF2-40B4-BE49-F238E27FC236}">
                <a16:creationId xmlns:a16="http://schemas.microsoft.com/office/drawing/2014/main" id="{4CF83607-E5BE-F850-0CB1-44D2EE850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1699687"/>
            <a:ext cx="477203" cy="477203"/>
          </a:xfrm>
          <a:prstGeom prst="rect">
            <a:avLst/>
          </a:prstGeom>
        </p:spPr>
      </p:pic>
      <p:pic>
        <p:nvPicPr>
          <p:cNvPr id="7" name="Picture 6" descr="bar icon">
            <a:extLst>
              <a:ext uri="{FF2B5EF4-FFF2-40B4-BE49-F238E27FC236}">
                <a16:creationId xmlns:a16="http://schemas.microsoft.com/office/drawing/2014/main" id="{85F485C1-4E89-D6EF-4E7F-6B4315BC52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9425" y="1699686"/>
            <a:ext cx="477203" cy="477203"/>
          </a:xfrm>
          <a:prstGeom prst="rect">
            <a:avLst/>
          </a:prstGeom>
        </p:spPr>
      </p:pic>
      <p:pic>
        <p:nvPicPr>
          <p:cNvPr id="8" name="Picture 7" descr="banknotes icon">
            <a:extLst>
              <a:ext uri="{FF2B5EF4-FFF2-40B4-BE49-F238E27FC236}">
                <a16:creationId xmlns:a16="http://schemas.microsoft.com/office/drawing/2014/main" id="{645ADA76-8608-CA0D-3E69-177A14EC30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575" y="1699685"/>
            <a:ext cx="477204" cy="4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9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836751"/>
            <a:ext cx="5048250" cy="2932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36751"/>
            <a:ext cx="5048250" cy="293229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1152525" y="2237316"/>
            <a:ext cx="44805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David</a:t>
            </a:r>
            <a:endParaRPr lang="nl-BE" noProof="0" dirty="0"/>
          </a:p>
        </p:txBody>
      </p:sp>
      <p:sp>
        <p:nvSpPr>
          <p:cNvPr id="150" name="Google Shape;150;p19"/>
          <p:cNvSpPr txBox="1"/>
          <p:nvPr/>
        </p:nvSpPr>
        <p:spPr>
          <a:xfrm>
            <a:off x="1152525" y="2813447"/>
            <a:ext cx="4267200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BE" sz="1600" noProof="0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Opzetten applicatie</a:t>
            </a:r>
          </a:p>
          <a:p>
            <a:pPr marL="171450" lvl="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nl-BE" sz="16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Creëren </a:t>
            </a:r>
            <a:r>
              <a:rPr lang="nl-BE" sz="1600" noProof="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 database</a:t>
            </a:r>
          </a:p>
          <a:p>
            <a:pPr marL="171450" marR="0" lvl="0" indent="-1714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BE" sz="1600" noProof="0" dirty="0" err="1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Authentication</a:t>
            </a:r>
            <a:endParaRPr lang="nl-BE" sz="1600" noProof="0" dirty="0">
              <a:solidFill>
                <a:srgbClr val="475569"/>
              </a:solidFill>
              <a:latin typeface="Plus Jakarta Sans"/>
              <a:cs typeface="Plus Jakarta Sans"/>
              <a:sym typeface="Plus Jakarta Sans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nl-BE" sz="16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Algemene functionaliteiten</a:t>
            </a:r>
          </a:p>
        </p:txBody>
      </p:sp>
      <p:sp>
        <p:nvSpPr>
          <p:cNvPr id="151" name="Google Shape;151;p19"/>
          <p:cNvSpPr txBox="1"/>
          <p:nvPr/>
        </p:nvSpPr>
        <p:spPr>
          <a:xfrm>
            <a:off x="6772275" y="2237316"/>
            <a:ext cx="44805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Lander</a:t>
            </a:r>
            <a:endParaRPr lang="nl-BE" noProof="0" dirty="0"/>
          </a:p>
        </p:txBody>
      </p:sp>
      <p:sp>
        <p:nvSpPr>
          <p:cNvPr id="152" name="Google Shape;152;p19"/>
          <p:cNvSpPr txBox="1"/>
          <p:nvPr/>
        </p:nvSpPr>
        <p:spPr>
          <a:xfrm>
            <a:off x="6772275" y="2818820"/>
            <a:ext cx="4267200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nl-BE" sz="1600" noProof="0" dirty="0" err="1">
                <a:solidFill>
                  <a:srgbClr val="475569"/>
                </a:solidFill>
                <a:latin typeface="Plus Jakarta Sans"/>
                <a:cs typeface="Plus Jakarta Sans"/>
              </a:rPr>
              <a:t>Mockups</a:t>
            </a:r>
            <a:endParaRPr lang="nl-BE" sz="1600" noProof="0" dirty="0">
              <a:solidFill>
                <a:srgbClr val="475569"/>
              </a:solidFill>
              <a:latin typeface="Plus Jakarta Sans"/>
              <a:cs typeface="Plus Jakarta Sans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nl-BE" sz="1600" noProof="0" dirty="0" err="1">
                <a:solidFill>
                  <a:srgbClr val="475569"/>
                </a:solidFill>
                <a:latin typeface="Plus Jakarta Sans"/>
                <a:cs typeface="Plus Jakarta Sans"/>
              </a:rPr>
              <a:t>Navigation</a:t>
            </a:r>
            <a:endParaRPr lang="nl-BE" sz="1600" noProof="0" dirty="0">
              <a:solidFill>
                <a:srgbClr val="475569"/>
              </a:solidFill>
              <a:latin typeface="Plus Jakarta Sans"/>
              <a:cs typeface="Plus Jakarta Sans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nl-BE" sz="16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Styling</a:t>
            </a: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nl-BE" sz="1600" noProof="0" dirty="0">
                <a:solidFill>
                  <a:srgbClr val="475569"/>
                </a:solidFill>
                <a:latin typeface="Plus Jakarta Sans"/>
                <a:cs typeface="Plus Jakarta Sans"/>
              </a:rPr>
              <a:t>Algemene functionaliteiten</a:t>
            </a:r>
          </a:p>
        </p:txBody>
      </p:sp>
      <p:sp>
        <p:nvSpPr>
          <p:cNvPr id="153" name="Google Shape;153;p19"/>
          <p:cNvSpPr txBox="1"/>
          <p:nvPr/>
        </p:nvSpPr>
        <p:spPr>
          <a:xfrm>
            <a:off x="762000" y="571500"/>
            <a:ext cx="11201400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850" b="0" i="0" u="none" strike="noStrike" cap="none" noProof="0" dirty="0">
                <a:solidFill>
                  <a:srgbClr val="2B307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Wie heeft wat gedaan?</a:t>
            </a:r>
            <a:endParaRPr lang="nl-BE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E6C4FDF0-8796-C490-BD94-7433A3903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A6A2E0C2-E342-BC05-C550-A6F08C74D5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7708" y="-214688"/>
            <a:ext cx="12287416" cy="714424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EFDFE800-281B-AAC8-DD7A-693AEA3EDFBD}"/>
              </a:ext>
            </a:extLst>
          </p:cNvPr>
          <p:cNvSpPr txBox="1"/>
          <p:nvPr/>
        </p:nvSpPr>
        <p:spPr>
          <a:xfrm>
            <a:off x="3407569" y="3182778"/>
            <a:ext cx="537686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3200" b="0" i="0" u="none" strike="noStrike" cap="none" noProof="0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</a:t>
            </a:r>
            <a:endParaRPr lang="nl-BE" sz="2800" noProof="0" dirty="0"/>
          </a:p>
        </p:txBody>
      </p:sp>
    </p:spTree>
    <p:extLst>
      <p:ext uri="{BB962C8B-B14F-4D97-AF65-F5344CB8AC3E}">
        <p14:creationId xmlns:p14="http://schemas.microsoft.com/office/powerpoint/2010/main" val="2820963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/>
        </p:nvSpPr>
        <p:spPr>
          <a:xfrm>
            <a:off x="703328" y="4050952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nl-BE" sz="1500" b="1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Ondersteuning</a:t>
            </a:r>
            <a:endParaRPr lang="nl-BE" noProof="0" dirty="0"/>
          </a:p>
        </p:txBody>
      </p:sp>
      <p:sp>
        <p:nvSpPr>
          <p:cNvPr id="199" name="Google Shape;199;p23"/>
          <p:cNvSpPr txBox="1"/>
          <p:nvPr/>
        </p:nvSpPr>
        <p:spPr>
          <a:xfrm>
            <a:off x="762000" y="4365277"/>
            <a:ext cx="234687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b="0" i="0" u="none" strike="noStrike" cap="none" noProof="0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Elkaar verder helpen bij problemen.</a:t>
            </a:r>
            <a:endParaRPr lang="nl-BE" noProof="0" dirty="0"/>
          </a:p>
        </p:txBody>
      </p:sp>
      <p:sp>
        <p:nvSpPr>
          <p:cNvPr id="200" name="Google Shape;200;p23"/>
          <p:cNvSpPr txBox="1"/>
          <p:nvPr/>
        </p:nvSpPr>
        <p:spPr>
          <a:xfrm>
            <a:off x="3477037" y="2359347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500" b="1" i="0" u="none" strike="noStrike" cap="none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Nabespreking</a:t>
            </a:r>
            <a:endParaRPr lang="nl-BE" noProof="0" dirty="0"/>
          </a:p>
        </p:txBody>
      </p:sp>
      <p:sp>
        <p:nvSpPr>
          <p:cNvPr id="201" name="Google Shape;201;p23"/>
          <p:cNvSpPr txBox="1"/>
          <p:nvPr/>
        </p:nvSpPr>
        <p:spPr>
          <a:xfrm>
            <a:off x="3535709" y="2673672"/>
            <a:ext cx="234687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noProof="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Na elke meeting een korte nabespreking over de </a:t>
            </a:r>
            <a:br>
              <a:rPr lang="nl-BE" sz="1200" noProof="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</a:br>
            <a:r>
              <a:rPr lang="nl-BE" sz="1200" noProof="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komende periode.</a:t>
            </a:r>
            <a:endParaRPr lang="nl-BE" noProof="0" dirty="0"/>
          </a:p>
        </p:txBody>
      </p:sp>
      <p:sp>
        <p:nvSpPr>
          <p:cNvPr id="202" name="Google Shape;202;p23"/>
          <p:cNvSpPr txBox="1"/>
          <p:nvPr/>
        </p:nvSpPr>
        <p:spPr>
          <a:xfrm>
            <a:off x="6250747" y="4050952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500" b="1" i="0" u="none" strike="noStrike" cap="none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Communicatie</a:t>
            </a:r>
            <a:endParaRPr lang="nl-BE" noProof="0" dirty="0"/>
          </a:p>
        </p:txBody>
      </p:sp>
      <p:sp>
        <p:nvSpPr>
          <p:cNvPr id="203" name="Google Shape;203;p23"/>
          <p:cNvSpPr txBox="1"/>
          <p:nvPr/>
        </p:nvSpPr>
        <p:spPr>
          <a:xfrm>
            <a:off x="6309419" y="4365277"/>
            <a:ext cx="234687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b="0" i="0" u="none" strike="noStrike" cap="none" noProof="0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Duidelijke communicatie 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b="0" i="0" u="none" strike="noStrike" cap="none" noProof="0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naar elkaar toe.</a:t>
            </a:r>
            <a:endParaRPr lang="nl-BE" noProof="0" dirty="0"/>
          </a:p>
        </p:txBody>
      </p:sp>
      <p:sp>
        <p:nvSpPr>
          <p:cNvPr id="204" name="Google Shape;204;p23"/>
          <p:cNvSpPr txBox="1"/>
          <p:nvPr/>
        </p:nvSpPr>
        <p:spPr>
          <a:xfrm>
            <a:off x="9024457" y="2772816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500" b="1" i="0" u="none" strike="noStrike" cap="none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Planning</a:t>
            </a:r>
            <a:endParaRPr lang="nl-BE" noProof="0" dirty="0"/>
          </a:p>
        </p:txBody>
      </p:sp>
      <p:sp>
        <p:nvSpPr>
          <p:cNvPr id="205" name="Google Shape;205;p23"/>
          <p:cNvSpPr txBox="1"/>
          <p:nvPr/>
        </p:nvSpPr>
        <p:spPr>
          <a:xfrm>
            <a:off x="9083129" y="3087141"/>
            <a:ext cx="234687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noProof="0" dirty="0" err="1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Github</a:t>
            </a:r>
            <a:r>
              <a:rPr lang="nl-BE" sz="1200" noProof="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 project boards.</a:t>
            </a:r>
            <a:endParaRPr lang="nl-BE" noProof="0" dirty="0"/>
          </a:p>
        </p:txBody>
      </p:sp>
      <p:sp>
        <p:nvSpPr>
          <p:cNvPr id="206" name="Google Shape;206;p23"/>
          <p:cNvSpPr/>
          <p:nvPr/>
        </p:nvSpPr>
        <p:spPr>
          <a:xfrm>
            <a:off x="1849710" y="372710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B30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nl-BE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4623420" y="372710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B30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nl-BE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7397129" y="372710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B30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nl-BE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10170839" y="372710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B30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nl-BE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762000" y="571500"/>
            <a:ext cx="11201400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850" b="0" i="0" u="none" strike="noStrike" cap="none" noProof="0" dirty="0">
                <a:solidFill>
                  <a:srgbClr val="2B307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Groepsdynamiek</a:t>
            </a:r>
            <a:endParaRPr lang="nl-BE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270C7D4B-3A8A-ABE9-175F-544939BAF9A4}"/>
              </a:ext>
            </a:extLst>
          </p:cNvPr>
          <p:cNvSpPr/>
          <p:nvPr/>
        </p:nvSpPr>
        <p:spPr>
          <a:xfrm>
            <a:off x="6902958" y="-613852"/>
            <a:ext cx="7900416" cy="7900416"/>
          </a:xfrm>
          <a:prstGeom prst="ellipse">
            <a:avLst/>
          </a:prstGeom>
          <a:solidFill>
            <a:srgbClr val="293275"/>
          </a:solidFill>
          <a:ln>
            <a:solidFill>
              <a:srgbClr val="2932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noProof="0" dirty="0"/>
          </a:p>
        </p:txBody>
      </p:sp>
      <p:sp>
        <p:nvSpPr>
          <p:cNvPr id="128" name="Google Shape;128;p17"/>
          <p:cNvSpPr txBox="1"/>
          <p:nvPr/>
        </p:nvSpPr>
        <p:spPr>
          <a:xfrm>
            <a:off x="762000" y="1810048"/>
            <a:ext cx="530066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 noProof="0" dirty="0" err="1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Leerijk</a:t>
            </a:r>
            <a:endParaRPr lang="nl-BE" noProof="0" dirty="0"/>
          </a:p>
        </p:txBody>
      </p:sp>
      <p:sp>
        <p:nvSpPr>
          <p:cNvPr id="130" name="Google Shape;130;p17"/>
          <p:cNvSpPr txBox="1"/>
          <p:nvPr/>
        </p:nvSpPr>
        <p:spPr>
          <a:xfrm>
            <a:off x="762000" y="2172873"/>
            <a:ext cx="50482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b="0" i="0" u="none" strike="noStrike" cap="none" noProof="0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Zeer leerrijk project in </a:t>
            </a:r>
            <a:r>
              <a:rPr lang="nl-BE" sz="1200" b="0" i="0" u="none" strike="noStrike" cap="none" noProof="0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Kotlin</a:t>
            </a:r>
            <a:r>
              <a:rPr lang="nl-BE" sz="1200" b="0" i="0" u="none" strike="noStrike" cap="none" noProof="0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met database integratie.</a:t>
            </a:r>
            <a:endParaRPr lang="nl-BE" noProof="0" dirty="0"/>
          </a:p>
        </p:txBody>
      </p:sp>
      <p:sp>
        <p:nvSpPr>
          <p:cNvPr id="131" name="Google Shape;131;p17"/>
          <p:cNvSpPr txBox="1"/>
          <p:nvPr/>
        </p:nvSpPr>
        <p:spPr>
          <a:xfrm>
            <a:off x="762000" y="701483"/>
            <a:ext cx="11201400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850" b="0" i="0" u="none" strike="noStrike" cap="none" noProof="0" dirty="0">
                <a:solidFill>
                  <a:srgbClr val="2B307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Slot</a:t>
            </a:r>
            <a:endParaRPr lang="nl-BE" noProof="0" dirty="0"/>
          </a:p>
        </p:txBody>
      </p:sp>
      <p:sp>
        <p:nvSpPr>
          <p:cNvPr id="3" name="Google Shape;128;p17">
            <a:extLst>
              <a:ext uri="{FF2B5EF4-FFF2-40B4-BE49-F238E27FC236}">
                <a16:creationId xmlns:a16="http://schemas.microsoft.com/office/drawing/2014/main" id="{5FFCFDD9-2D3D-53E6-A0D9-B4ED818E2459}"/>
              </a:ext>
            </a:extLst>
          </p:cNvPr>
          <p:cNvSpPr txBox="1"/>
          <p:nvPr/>
        </p:nvSpPr>
        <p:spPr>
          <a:xfrm>
            <a:off x="762000" y="2678065"/>
            <a:ext cx="530066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Samenwerking</a:t>
            </a:r>
            <a:endParaRPr lang="nl-BE" noProof="0" dirty="0"/>
          </a:p>
        </p:txBody>
      </p:sp>
      <p:sp>
        <p:nvSpPr>
          <p:cNvPr id="4" name="Google Shape;130;p17">
            <a:extLst>
              <a:ext uri="{FF2B5EF4-FFF2-40B4-BE49-F238E27FC236}">
                <a16:creationId xmlns:a16="http://schemas.microsoft.com/office/drawing/2014/main" id="{8EE9C836-C55B-E7A3-C960-16BA2EC1B7E2}"/>
              </a:ext>
            </a:extLst>
          </p:cNvPr>
          <p:cNvSpPr txBox="1"/>
          <p:nvPr/>
        </p:nvSpPr>
        <p:spPr>
          <a:xfrm>
            <a:off x="762000" y="3040890"/>
            <a:ext cx="50482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b="0" i="0" u="none" strike="noStrike" cap="none" noProof="0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Goede samenwerking als team.</a:t>
            </a:r>
            <a:endParaRPr lang="nl-BE" noProof="0" dirty="0"/>
          </a:p>
        </p:txBody>
      </p:sp>
      <p:sp>
        <p:nvSpPr>
          <p:cNvPr id="5" name="Google Shape;128;p17">
            <a:extLst>
              <a:ext uri="{FF2B5EF4-FFF2-40B4-BE49-F238E27FC236}">
                <a16:creationId xmlns:a16="http://schemas.microsoft.com/office/drawing/2014/main" id="{9A899E97-1650-0CAC-58A0-C3FCA478FB15}"/>
              </a:ext>
            </a:extLst>
          </p:cNvPr>
          <p:cNvSpPr txBox="1"/>
          <p:nvPr/>
        </p:nvSpPr>
        <p:spPr>
          <a:xfrm>
            <a:off x="762000" y="3546082"/>
            <a:ext cx="530066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 noProof="0" dirty="0">
                <a:solidFill>
                  <a:srgbClr val="2B3078"/>
                </a:solidFill>
                <a:latin typeface="Outfit"/>
                <a:ea typeface="Outfit"/>
                <a:cs typeface="Outfit"/>
                <a:sym typeface="Outfit"/>
              </a:rPr>
              <a:t>Trots</a:t>
            </a:r>
            <a:endParaRPr lang="nl-BE" noProof="0" dirty="0"/>
          </a:p>
        </p:txBody>
      </p:sp>
      <p:sp>
        <p:nvSpPr>
          <p:cNvPr id="6" name="Google Shape;130;p17">
            <a:extLst>
              <a:ext uri="{FF2B5EF4-FFF2-40B4-BE49-F238E27FC236}">
                <a16:creationId xmlns:a16="http://schemas.microsoft.com/office/drawing/2014/main" id="{A823C3CA-ABB5-653F-534A-989FA6AFF04E}"/>
              </a:ext>
            </a:extLst>
          </p:cNvPr>
          <p:cNvSpPr txBox="1"/>
          <p:nvPr/>
        </p:nvSpPr>
        <p:spPr>
          <a:xfrm>
            <a:off x="762000" y="3908907"/>
            <a:ext cx="50482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b="0" i="0" u="none" strike="noStrike" cap="none" noProof="0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Geslaagd eindresultaat.</a:t>
            </a:r>
            <a:endParaRPr lang="nl-BE" noProof="0" dirty="0"/>
          </a:p>
        </p:txBody>
      </p:sp>
      <p:sp>
        <p:nvSpPr>
          <p:cNvPr id="7" name="Google Shape;128;p17">
            <a:extLst>
              <a:ext uri="{FF2B5EF4-FFF2-40B4-BE49-F238E27FC236}">
                <a16:creationId xmlns:a16="http://schemas.microsoft.com/office/drawing/2014/main" id="{9D2B8F0B-2491-071F-94AF-0D5A78157659}"/>
              </a:ext>
            </a:extLst>
          </p:cNvPr>
          <p:cNvSpPr txBox="1"/>
          <p:nvPr/>
        </p:nvSpPr>
        <p:spPr>
          <a:xfrm>
            <a:off x="795338" y="4414099"/>
            <a:ext cx="53006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noProof="0" dirty="0">
                <a:solidFill>
                  <a:srgbClr val="2B3078"/>
                </a:solidFill>
                <a:latin typeface="Outfit"/>
                <a:sym typeface="Outfit"/>
              </a:rPr>
              <a:t>Begeleiding</a:t>
            </a:r>
            <a:endParaRPr lang="nl-BE" noProof="0" dirty="0"/>
          </a:p>
        </p:txBody>
      </p:sp>
      <p:sp>
        <p:nvSpPr>
          <p:cNvPr id="8" name="Google Shape;130;p17">
            <a:extLst>
              <a:ext uri="{FF2B5EF4-FFF2-40B4-BE49-F238E27FC236}">
                <a16:creationId xmlns:a16="http://schemas.microsoft.com/office/drawing/2014/main" id="{77CB51B2-EE59-01D6-16FB-6EF04AE30250}"/>
              </a:ext>
            </a:extLst>
          </p:cNvPr>
          <p:cNvSpPr txBox="1"/>
          <p:nvPr/>
        </p:nvSpPr>
        <p:spPr>
          <a:xfrm>
            <a:off x="795338" y="4776924"/>
            <a:ext cx="50482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nl-BE" sz="1200" noProof="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Goede opvolging van docenten.</a:t>
            </a:r>
            <a:endParaRPr lang="nl-BE" sz="1200" noProof="0" dirty="0">
              <a:solidFill>
                <a:srgbClr val="475569"/>
              </a:solidFill>
              <a:latin typeface="Plus Jakarta Sans"/>
              <a:cs typeface="Plus Jakarta Sans"/>
            </a:endParaRPr>
          </a:p>
        </p:txBody>
      </p:sp>
      <p:pic>
        <p:nvPicPr>
          <p:cNvPr id="9" name="Picture 8" descr="https://scontent-bru2-1.xx.fbcdn.net/v/t39.30808-6/280435567_391416489662122_8160753481276236330_n.png?_nc_cat=102&amp;ccb=1-7&amp;_nc_sid=cc71e4&amp;_nc_ohc=42OvI2CeiV8Q7kNvwE0DAIk&amp;_nc_oc=AdqrDdtEzIF9HdapBXnUFiYRteiFqt31JMlbAT6jBUWWz-63DR9tYs6cqWr10qke2tU&amp;_nc_zt=23&amp;_nc_ht=scontent-bru2-1.xx&amp;_nc_gid=ZDkFPaVhlcdrvy2YP2W9hw&amp;_nc_ss=7b289&amp;oh=00_Af99o-RFwkTVzteVNYlGb3MomR2EJtteXn-Jjx5ljiCVCQ&amp;oe=6A279C44">
            <a:extLst>
              <a:ext uri="{FF2B5EF4-FFF2-40B4-BE49-F238E27FC236}">
                <a16:creationId xmlns:a16="http://schemas.microsoft.com/office/drawing/2014/main" id="{29929E92-6479-A4F9-D1CC-76F39E6B0E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89" t="16189" r="2305" b="19417"/>
          <a:stretch>
            <a:fillRect/>
          </a:stretch>
        </p:blipFill>
        <p:spPr>
          <a:xfrm>
            <a:off x="7680960" y="1908642"/>
            <a:ext cx="5200214" cy="25054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399C8801-883B-8EA6-99E6-A4A7F7CBF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>
            <a:extLst>
              <a:ext uri="{FF2B5EF4-FFF2-40B4-BE49-F238E27FC236}">
                <a16:creationId xmlns:a16="http://schemas.microsoft.com/office/drawing/2014/main" id="{52A22FAD-FDA7-669A-9CE7-806DC65982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5600" y="-38100"/>
            <a:ext cx="12661900" cy="699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3C344295-D1B9-9E86-B6FF-15A8775C5CC5}"/>
              </a:ext>
            </a:extLst>
          </p:cNvPr>
          <p:cNvSpPr/>
          <p:nvPr/>
        </p:nvSpPr>
        <p:spPr>
          <a:xfrm>
            <a:off x="5619750" y="2657475"/>
            <a:ext cx="952500" cy="47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nl-BE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FD6DB6C6-ADB4-6784-0A04-450B00626742}"/>
              </a:ext>
            </a:extLst>
          </p:cNvPr>
          <p:cNvSpPr txBox="1"/>
          <p:nvPr/>
        </p:nvSpPr>
        <p:spPr>
          <a:xfrm>
            <a:off x="2052762" y="2782669"/>
            <a:ext cx="808647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4200" b="0" i="0" u="none" strike="noStrike" cap="none" noProof="0" dirty="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Bedankt voor uw aandacht!</a:t>
            </a:r>
            <a:endParaRPr lang="nl-BE" noProof="0" dirty="0"/>
          </a:p>
        </p:txBody>
      </p:sp>
    </p:spTree>
    <p:extLst>
      <p:ext uri="{BB962C8B-B14F-4D97-AF65-F5344CB8AC3E}">
        <p14:creationId xmlns:p14="http://schemas.microsoft.com/office/powerpoint/2010/main" val="2903317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308</Words>
  <Application>Microsoft Office PowerPoint</Application>
  <PresentationFormat>Widescreen</PresentationFormat>
  <Paragraphs>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Plus Jakarta Sans</vt:lpstr>
      <vt:lpstr>Outfit ExtraBold</vt:lpstr>
      <vt:lpstr>Arial</vt:lpstr>
      <vt:lpstr>Calibri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Lander</dc:creator>
  <cp:lastModifiedBy>david aeschlimann</cp:lastModifiedBy>
  <cp:revision>11</cp:revision>
  <dcterms:modified xsi:type="dcterms:W3CDTF">2026-06-07T13:21:42Z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2026-06-04T17:48:29Z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f77dae64-b3e9-404b-b8f0-b7458e0f2a3c</vt:lpwstr>
  </property>
  <property fmtid="{D5CDD505-2E9C-101B-9397-08002B2CF9AE}" pid="8" name="MSIP_Label_c337be75-dfbb-4261-9834-ac247c7dde13_ContentBits">
    <vt:lpwstr>0</vt:lpwstr>
  </property>
  <property fmtid="{D5CDD505-2E9C-101B-9397-08002B2CF9AE}" pid="9" name="MSIP_Label_c337be75-dfbb-4261-9834-ac247c7dde13_Tag">
    <vt:lpwstr>10, 3, 0, 1</vt:lpwstr>
  </property>
</Properties>
</file>